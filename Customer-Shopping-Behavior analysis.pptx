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" charset="1" panose="02000000000000000000"/>
      <p:regular r:id="rId19"/>
    </p:embeddedFont>
    <p:embeddedFont>
      <p:font typeface="DM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562645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Shopping Behavior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693121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544043"/>
            <a:chOff x="0" y="0"/>
            <a:chExt cx="24384000" cy="472539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982318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597101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9275" y="773445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827127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4866" y="6597101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71902" y="773445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827127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7493" y="6597101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4530" y="773445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97493" y="827127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78984"/>
            <a:ext cx="907315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Preparation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67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2032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40031"/>
            <a:ext cx="5245446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4004367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42032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4740031"/>
            <a:ext cx="5245446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4004367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4203202"/>
            <a:ext cx="41372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740031"/>
            <a:ext cx="52454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5285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81222"/>
            <a:ext cx="36930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18041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Created age groups and purchase frequency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15285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6881222"/>
            <a:ext cx="376609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418041"/>
            <a:ext cx="8009934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MySQL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78909"/>
            <a:ext cx="1030337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by Gender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37592"/>
            <a:ext cx="9505359" cy="5001368"/>
            <a:chOff x="0" y="0"/>
            <a:chExt cx="12673813" cy="666849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673838" cy="6668516"/>
            </a:xfrm>
            <a:custGeom>
              <a:avLst/>
              <a:gdLst/>
              <a:ahLst/>
              <a:cxnLst/>
              <a:rect r="r" b="b" t="t" l="l"/>
              <a:pathLst>
                <a:path h="6668516" w="12673838">
                  <a:moveTo>
                    <a:pt x="0" y="0"/>
                  </a:moveTo>
                  <a:lnTo>
                    <a:pt x="12673838" y="0"/>
                  </a:lnTo>
                  <a:lnTo>
                    <a:pt x="12673838" y="6668516"/>
                  </a:lnTo>
                  <a:lnTo>
                    <a:pt x="0" y="6668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673203" y="8177060"/>
            <a:ext cx="283521" cy="283521"/>
            <a:chOff x="0" y="0"/>
            <a:chExt cx="378028" cy="3780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40320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032924" y="8215160"/>
            <a:ext cx="616744" cy="24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40168" y="8177060"/>
            <a:ext cx="283521" cy="283521"/>
            <a:chOff x="0" y="0"/>
            <a:chExt cx="378028" cy="378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CC9D2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199880" y="8215160"/>
            <a:ext cx="937470" cy="24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8866" y="308312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98866" y="3733352"/>
            <a:ext cx="6106268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 customers generate slightly higher total revenue than male customers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98866" y="5054803"/>
            <a:ext cx="6106268" cy="1658388"/>
            <a:chOff x="0" y="0"/>
            <a:chExt cx="8141691" cy="2211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41716" cy="2211070"/>
            </a:xfrm>
            <a:custGeom>
              <a:avLst/>
              <a:gdLst/>
              <a:ahLst/>
              <a:cxnLst/>
              <a:rect r="r" b="b" t="t" l="l"/>
              <a:pathLst>
                <a:path h="2211070" w="8141716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982966" y="0"/>
                  </a:lnTo>
                  <a:cubicBezTo>
                    <a:pt x="8070723" y="0"/>
                    <a:pt x="8141716" y="71120"/>
                    <a:pt x="8141716" y="158750"/>
                  </a:cubicBezTo>
                  <a:lnTo>
                    <a:pt x="8141716" y="2052320"/>
                  </a:lnTo>
                  <a:cubicBezTo>
                    <a:pt x="8141716" y="2140077"/>
                    <a:pt x="8070597" y="2211070"/>
                    <a:pt x="7982966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F3E4B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482388" y="5484914"/>
            <a:ext cx="354359" cy="283521"/>
            <a:chOff x="0" y="0"/>
            <a:chExt cx="472478" cy="37802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1" r="-8" b="-65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120267" y="5313912"/>
            <a:ext cx="490135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835496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High-Value Discount Users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965972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5476" y="4829023"/>
            <a:ext cx="9455048" cy="1662265"/>
            <a:chOff x="0" y="0"/>
            <a:chExt cx="12606731" cy="22163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143284" y="510778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3284" y="5644601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45476" y="6765284"/>
            <a:ext cx="9455048" cy="1662265"/>
            <a:chOff x="0" y="0"/>
            <a:chExt cx="12606731" cy="2216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143284" y="7044033"/>
            <a:ext cx="400020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43284" y="7580862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544043"/>
            <a:chOff x="0" y="0"/>
            <a:chExt cx="24384000" cy="472539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5340848"/>
            <a:ext cx="726578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Top-Rated Products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6680597"/>
            <a:ext cx="478336" cy="425206"/>
            <a:chOff x="0" y="0"/>
            <a:chExt cx="637781" cy="56694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1412" y="6680597"/>
            <a:ext cx="478336" cy="425206"/>
            <a:chOff x="0" y="0"/>
            <a:chExt cx="637781" cy="56694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90585" y="6680597"/>
            <a:ext cx="478336" cy="425206"/>
            <a:chOff x="0" y="0"/>
            <a:chExt cx="637781" cy="56694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39768" y="6680597"/>
            <a:ext cx="478336" cy="425206"/>
            <a:chOff x="0" y="0"/>
            <a:chExt cx="637781" cy="566941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188941" y="6680597"/>
            <a:ext cx="478336" cy="425206"/>
            <a:chOff x="0" y="0"/>
            <a:chExt cx="637781" cy="56694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879799" y="6801888"/>
            <a:ext cx="354359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73759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Blouse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912741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Highest customer satisfaction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44866" y="6680597"/>
            <a:ext cx="478336" cy="425206"/>
            <a:chOff x="0" y="0"/>
            <a:chExt cx="637781" cy="566941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094039" y="6680597"/>
            <a:ext cx="478336" cy="425206"/>
            <a:chOff x="0" y="0"/>
            <a:chExt cx="637781" cy="566941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43222" y="6680597"/>
            <a:ext cx="478336" cy="425206"/>
            <a:chOff x="0" y="0"/>
            <a:chExt cx="637781" cy="566941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92395" y="6680597"/>
            <a:ext cx="478336" cy="425206"/>
            <a:chOff x="0" y="0"/>
            <a:chExt cx="637781" cy="566941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41569" y="6680597"/>
            <a:ext cx="478336" cy="425206"/>
            <a:chOff x="0" y="0"/>
            <a:chExt cx="637781" cy="566941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32427" y="6801888"/>
            <a:ext cx="354359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44866" y="73759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44866" y="7912741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Consistently excellent reviews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97493" y="6680597"/>
            <a:ext cx="478336" cy="425206"/>
            <a:chOff x="0" y="0"/>
            <a:chExt cx="637781" cy="566941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646666" y="6680597"/>
            <a:ext cx="478336" cy="425206"/>
            <a:chOff x="0" y="0"/>
            <a:chExt cx="637781" cy="566941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195849" y="6680597"/>
            <a:ext cx="478336" cy="425206"/>
            <a:chOff x="0" y="0"/>
            <a:chExt cx="637781" cy="566941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45023" y="6680597"/>
            <a:ext cx="478336" cy="425206"/>
            <a:chOff x="0" y="0"/>
            <a:chExt cx="637781" cy="566941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1" b="-62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294196" y="6680597"/>
            <a:ext cx="478336" cy="425206"/>
            <a:chOff x="0" y="0"/>
            <a:chExt cx="637781" cy="566941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22" r="1" b="-625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985054" y="6801888"/>
            <a:ext cx="354359" cy="3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97493" y="73759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Shirt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97493" y="7912741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Strong customer approval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742923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Shipping Preferences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3312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921453"/>
            <a:ext cx="4376890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938962"/>
            <a:ext cx="4376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397" y="423312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0397" y="4921453"/>
            <a:ext cx="4376890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397" y="6938962"/>
            <a:ext cx="4376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966624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12% more per transaction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15961"/>
            <a:ext cx="739913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Subscription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7555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68%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64916" y="3068393"/>
            <a:ext cx="4252912" cy="4252912"/>
            <a:chOff x="0" y="0"/>
            <a:chExt cx="5670550" cy="5670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19275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Higher Spend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Subscribers vs non-subscribers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00182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017544" y="3068393"/>
            <a:ext cx="4252912" cy="4252912"/>
            <a:chOff x="0" y="0"/>
            <a:chExt cx="5670550" cy="567055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71902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4866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52809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78%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70171" y="3068393"/>
            <a:ext cx="4252912" cy="4252912"/>
            <a:chOff x="0" y="0"/>
            <a:chExt cx="5670550" cy="5670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24530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7493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0690"/>
            <a:ext cx="885051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Segmentation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22932" y="2962275"/>
            <a:ext cx="2690070" cy="1633690"/>
            <a:chOff x="0" y="0"/>
            <a:chExt cx="3586759" cy="21782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586734" cy="2178304"/>
            </a:xfrm>
            <a:custGeom>
              <a:avLst/>
              <a:gdLst/>
              <a:ahLst/>
              <a:cxnLst/>
              <a:rect r="r" b="b" t="t" l="l"/>
              <a:pathLst>
                <a:path h="2178304" w="3586734">
                  <a:moveTo>
                    <a:pt x="0" y="0"/>
                  </a:moveTo>
                  <a:lnTo>
                    <a:pt x="3586734" y="0"/>
                  </a:lnTo>
                  <a:lnTo>
                    <a:pt x="3586734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6" r="0" b="-21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868618" y="3608489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6523" y="322674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6523" y="3763566"/>
            <a:ext cx="360000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15% - High value customers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83848" y="4612329"/>
            <a:ext cx="10741076" cy="19050"/>
            <a:chOff x="0" y="0"/>
            <a:chExt cx="14321434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21410" cy="25400"/>
            </a:xfrm>
            <a:custGeom>
              <a:avLst/>
              <a:gdLst/>
              <a:ahLst/>
              <a:cxnLst/>
              <a:rect r="r" b="b" t="t" l="l"/>
              <a:pathLst>
                <a:path h="25400" w="1432141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77973" y="4666802"/>
            <a:ext cx="5380139" cy="1633690"/>
            <a:chOff x="0" y="0"/>
            <a:chExt cx="7173519" cy="217825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173468" cy="2178304"/>
            </a:xfrm>
            <a:custGeom>
              <a:avLst/>
              <a:gdLst/>
              <a:ahLst/>
              <a:cxnLst/>
              <a:rect r="r" b="b" t="t" l="l"/>
              <a:pathLst>
                <a:path h="2178304" w="7173468">
                  <a:moveTo>
                    <a:pt x="0" y="0"/>
                  </a:moveTo>
                  <a:lnTo>
                    <a:pt x="7173468" y="0"/>
                  </a:lnTo>
                  <a:lnTo>
                    <a:pt x="7173468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7" r="0" b="-12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868618" y="5110610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1634" y="4931273"/>
            <a:ext cx="314116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41634" y="5468093"/>
            <a:ext cx="314116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35% - Regular shoppers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28959" y="6316866"/>
            <a:ext cx="9395965" cy="19050"/>
            <a:chOff x="0" y="0"/>
            <a:chExt cx="12527953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27915" cy="25400"/>
            </a:xfrm>
            <a:custGeom>
              <a:avLst/>
              <a:gdLst/>
              <a:ahLst/>
              <a:cxnLst/>
              <a:rect r="r" b="b" t="t" l="l"/>
              <a:pathLst>
                <a:path h="25400" w="1252791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32872" y="6371330"/>
            <a:ext cx="8070209" cy="1633690"/>
            <a:chOff x="0" y="0"/>
            <a:chExt cx="10760278" cy="2178253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760329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760329">
                  <a:moveTo>
                    <a:pt x="0" y="0"/>
                  </a:moveTo>
                  <a:lnTo>
                    <a:pt x="10760329" y="0"/>
                  </a:lnTo>
                  <a:lnTo>
                    <a:pt x="10760329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" r="0" b="-15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868466" y="6815137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86592" y="6635801"/>
            <a:ext cx="317837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6592" y="7172620"/>
            <a:ext cx="317837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50% - First-time buyers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8228705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converting New to Returning, Returning to Loyal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90724"/>
            <a:chOff x="0" y="0"/>
            <a:chExt cx="9144000" cy="1372096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20953"/>
            </a:xfrm>
            <a:custGeom>
              <a:avLst/>
              <a:gdLst/>
              <a:ahLst/>
              <a:cxnLst/>
              <a:rect r="r" b="b" t="t" l="l"/>
              <a:pathLst>
                <a:path h="13720953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20953"/>
                  </a:lnTo>
                  <a:lnTo>
                    <a:pt x="0" y="1372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" t="0" r="-1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43352" y="509883"/>
            <a:ext cx="7076037" cy="6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Recommendations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38590" y="1439170"/>
            <a:ext cx="10068820" cy="1939823"/>
            <a:chOff x="0" y="0"/>
            <a:chExt cx="13425094" cy="2586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748588" y="1649168"/>
            <a:ext cx="587426" cy="587426"/>
            <a:chOff x="0" y="0"/>
            <a:chExt cx="783234" cy="783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910065" y="1777603"/>
            <a:ext cx="264319" cy="330403"/>
            <a:chOff x="0" y="0"/>
            <a:chExt cx="352425" cy="44053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48588" y="2432294"/>
            <a:ext cx="2487368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Boost Subscriptions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8588" y="2789034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Promote exclusive benefits for subscribers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38590" y="3565179"/>
            <a:ext cx="10068820" cy="1939823"/>
            <a:chOff x="0" y="0"/>
            <a:chExt cx="13425094" cy="2586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748588" y="3775177"/>
            <a:ext cx="587426" cy="587426"/>
            <a:chOff x="0" y="0"/>
            <a:chExt cx="783234" cy="7832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910065" y="3903612"/>
            <a:ext cx="264319" cy="330403"/>
            <a:chOff x="0" y="0"/>
            <a:chExt cx="352425" cy="44053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748588" y="4558303"/>
            <a:ext cx="2447630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Programs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48588" y="4915052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Reward repeat buyers to increase retention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38590" y="5691188"/>
            <a:ext cx="10068820" cy="1939823"/>
            <a:chOff x="0" y="0"/>
            <a:chExt cx="13425094" cy="25864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748588" y="5901185"/>
            <a:ext cx="587426" cy="587426"/>
            <a:chOff x="0" y="0"/>
            <a:chExt cx="783234" cy="7832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910065" y="6029620"/>
            <a:ext cx="264319" cy="330403"/>
            <a:chOff x="0" y="0"/>
            <a:chExt cx="352425" cy="440538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748588" y="6684321"/>
            <a:ext cx="2468766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Targeted Marketing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48588" y="7041061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high-revenue segments and express users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38590" y="7817196"/>
            <a:ext cx="10068820" cy="1939823"/>
            <a:chOff x="0" y="0"/>
            <a:chExt cx="13425094" cy="25864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25171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17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3314935" y="0"/>
                  </a:lnTo>
                  <a:cubicBezTo>
                    <a:pt x="13375768" y="0"/>
                    <a:pt x="13425171" y="49403"/>
                    <a:pt x="13425171" y="110236"/>
                  </a:cubicBezTo>
                  <a:lnTo>
                    <a:pt x="13425171" y="2476246"/>
                  </a:lnTo>
                  <a:cubicBezTo>
                    <a:pt x="13425171" y="2537079"/>
                    <a:pt x="13375768" y="2586482"/>
                    <a:pt x="13314935" y="2586482"/>
                  </a:cubicBezTo>
                  <a:lnTo>
                    <a:pt x="110236" y="2586482"/>
                  </a:lnTo>
                  <a:cubicBezTo>
                    <a:pt x="49403" y="2586482"/>
                    <a:pt x="0" y="2537079"/>
                    <a:pt x="0" y="2476246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748588" y="8027194"/>
            <a:ext cx="587426" cy="587426"/>
            <a:chOff x="0" y="0"/>
            <a:chExt cx="783234" cy="7832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910065" y="8155629"/>
            <a:ext cx="264319" cy="330403"/>
            <a:chOff x="0" y="0"/>
            <a:chExt cx="352425" cy="44053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5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748588" y="8810330"/>
            <a:ext cx="2483491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Positioning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48588" y="9167070"/>
            <a:ext cx="9648825" cy="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Highlight top-rated products in campaigns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DAHWGCco9e4</dc:identifier>
  <dcterms:modified xsi:type="dcterms:W3CDTF">2011-08-01T06:04:30Z</dcterms:modified>
  <cp:revision>1</cp:revision>
  <dc:title>Customer-Shopping-Behavior-Analysis.pptx</dc:title>
</cp:coreProperties>
</file>